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1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A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30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4554-837E-887B-2163-A13F6FB0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44D34-1D04-5EF8-8DD4-5AA6F1AD3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9A0B8-8E00-2180-3C09-FD98C077A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392CB-2171-A046-C9C0-1666BF63F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9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1EAD-55C3-3C07-83DF-1B7EFF3E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68D9EB-5CCD-D747-86B0-586D62178752}"/>
              </a:ext>
            </a:extLst>
          </p:cNvPr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BC3D9E-F9F1-908F-3F66-F47618E36FDD}"/>
              </a:ext>
            </a:extLst>
          </p:cNvPr>
          <p:cNvSpPr/>
          <p:nvPr/>
        </p:nvSpPr>
        <p:spPr>
          <a:xfrm>
            <a:off x="-1645920" y="4663440"/>
            <a:ext cx="3840480" cy="384048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7AC9B3-8E4C-D86B-6F2C-3B5D1F67DADF}"/>
              </a:ext>
            </a:extLst>
          </p:cNvPr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D4A24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Technical Presentation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7C7DA6-C43E-9D4C-E335-C837CD753CDC}"/>
              </a:ext>
            </a:extLst>
          </p:cNvPr>
          <p:cNvSpPr/>
          <p:nvPr/>
        </p:nvSpPr>
        <p:spPr>
          <a:xfrm>
            <a:off x="822960" y="17830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D9AD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Morphology and Word</a:t>
            </a:r>
            <a:endParaRPr lang="en-US" sz="3800" dirty="0">
              <a:solidFill>
                <a:srgbClr val="D9AD60"/>
              </a:solidFill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D9AD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in Natural Languages</a:t>
            </a:r>
            <a:endParaRPr lang="en-US" sz="3800" dirty="0">
              <a:solidFill>
                <a:srgbClr val="D9AD60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D535BF-4FE6-377B-24FE-1384C3D67EE8}"/>
              </a:ext>
            </a:extLst>
          </p:cNvPr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9A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Morphemes  •  Formation Processes  •  Cross-Linguistic Patterns</a:t>
            </a:r>
            <a:endParaRPr lang="en-US" sz="1700" dirty="0">
              <a:solidFill>
                <a:srgbClr val="D9AD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785BC2-B3AE-CFEB-FB4D-1D224CEE15D8}"/>
              </a:ext>
            </a:extLst>
          </p:cNvPr>
          <p:cNvSpPr txBox="1"/>
          <p:nvPr/>
        </p:nvSpPr>
        <p:spPr>
          <a:xfrm>
            <a:off x="8447319" y="5594639"/>
            <a:ext cx="4844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Phanith Chandu (192425238)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FD5147-424D-8D33-5ABC-8319610EA62F}"/>
              </a:ext>
            </a:extLst>
          </p:cNvPr>
          <p:cNvSpPr txBox="1"/>
          <p:nvPr/>
        </p:nvSpPr>
        <p:spPr>
          <a:xfrm>
            <a:off x="2515479" y="5594640"/>
            <a:ext cx="4844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Anbazhagan K</a:t>
            </a:r>
          </a:p>
        </p:txBody>
      </p:sp>
    </p:spTree>
    <p:extLst>
      <p:ext uri="{BB962C8B-B14F-4D97-AF65-F5344CB8AC3E}">
        <p14:creationId xmlns:p14="http://schemas.microsoft.com/office/powerpoint/2010/main" val="109322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Morphology?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morphemes — the smallest meaningful units that build every 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3A25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Morphemes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alone as complete 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461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book — a full word on its own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4087368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08736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— carries meaning unaided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4928616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92861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happy — needs no attachment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A26769"/>
          </a:solidFill>
          <a:ln/>
          <a:effectLst>
            <a:outerShdw blurRad="101600" dist="38100" dir="5400000" algn="bl" rotWithShape="0">
              <a:srgbClr val="3A25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 Morphemes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720840" y="2651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attach to another morpheme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324612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2461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un- — attaches before a root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20840" y="4087368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08736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-ness — attaches after a root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20840" y="4928616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92861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-ed — cannot stand alone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Word-Formation Processes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processes every language relies on to build and adapt words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8F1EC"/>
          </a:solidFill>
          <a:ln/>
          <a:effectLst>
            <a:outerShdw blurRad="76200" dist="25400" dir="5400000" algn="bl" rotWithShape="0">
              <a:srgbClr val="3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54480" y="2395728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→ happiness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54480" y="2816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 form by adding affixes, often changing word class.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8F1EC"/>
          </a:solidFill>
          <a:ln/>
          <a:effectLst>
            <a:outerShdw blurRad="76200" dist="25400" dir="5400000" algn="bl" rotWithShape="0">
              <a:srgbClr val="3A25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103120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60920" y="2395728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D4A24C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→ walked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2816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 changes form to mark tense, number, or case.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8F1EC"/>
          </a:solidFill>
          <a:ln/>
          <a:effectLst>
            <a:outerShdw blurRad="76200" dist="25400" dir="5400000" algn="bl" rotWithShape="0">
              <a:srgbClr val="3A25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54480" y="4590288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D4A24C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4590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+ book → notebook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554480" y="501091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morphemes combine into a single new word.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40233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8F1EC"/>
          </a:solidFill>
          <a:ln/>
          <a:effectLst>
            <a:outerShdw blurRad="76200" dist="25400" dir="5400000" algn="bl" rotWithShape="0">
              <a:srgbClr val="3A25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4297680"/>
            <a:ext cx="548640" cy="5486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360920" y="4590288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D4A24C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4590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(n) → to email (v)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60920" y="501091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shifts word class with no change in form.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Affixation: Five More Processes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also generate words through blending, shortening, and repetition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8F1EC"/>
          </a:solidFill>
          <a:ln w="12700">
            <a:solidFill>
              <a:srgbClr val="ED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9000" y="20116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20116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+ fog → smog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800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two words fuse into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D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614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29000" y="2944368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94436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 → 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2761488"/>
            <a:ext cx="4800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word is shortened informally.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8F1EC"/>
          </a:solidFill>
          <a:ln w="12700">
            <a:solidFill>
              <a:srgbClr val="ED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9417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 / Initialism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429000" y="3877056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8770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FBI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3694176"/>
            <a:ext cx="4800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letters form a new pronounceable or spelled word.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D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2686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Reduplication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429000" y="4809744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48097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Malay: rumah → rumah-rumah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4626864"/>
            <a:ext cx="4800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morpheme repeats to mark plurality or intensity.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59552"/>
            <a:ext cx="11064240" cy="804672"/>
          </a:xfrm>
          <a:prstGeom prst="roundRect">
            <a:avLst>
              <a:gd name="adj" fmla="val 10227"/>
            </a:avLst>
          </a:prstGeom>
          <a:solidFill>
            <a:srgbClr val="F8F1EC"/>
          </a:solidFill>
          <a:ln w="12700">
            <a:solidFill>
              <a:srgbClr val="EDE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55955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Back-Formation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429000" y="5742432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574243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→ edit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5559552"/>
            <a:ext cx="4800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affix is removed to create a shorter new word.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28016" cy="640080"/>
          </a:xfrm>
          <a:prstGeom prst="roundRect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1848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Morphemes — free and bound — are the smallest meaning-bearing units of language.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28016" cy="640080"/>
          </a:xfrm>
          <a:prstGeom prst="roundRect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57860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Derivation, inflection, compounding, and conversion are the core formation processes.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28016" cy="640080"/>
          </a:xfrm>
          <a:prstGeom prst="roundRect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3872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Blending, clipping, acronyms, and reduplication add further routes to new words.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128016" cy="640080"/>
          </a:xfrm>
          <a:prstGeom prst="roundRect">
            <a:avLst/>
          </a:prstGeom>
          <a:solidFill>
            <a:srgbClr val="D4A24C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49884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sit on a spectrum from isolating to polysynthetic in how morphemes combine.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65190-7BA6-4CA3-9DC8-FC15DFAEB7DC}"/>
              </a:ext>
            </a:extLst>
          </p:cNvPr>
          <p:cNvSpPr txBox="1"/>
          <p:nvPr/>
        </p:nvSpPr>
        <p:spPr>
          <a:xfrm>
            <a:off x="2194560" y="2921168"/>
            <a:ext cx="7802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396387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349</Words>
  <Application>Microsoft Office PowerPoint</Application>
  <PresentationFormat>Widescreen</PresentationFormat>
  <Paragraphs>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Phanith Chandu</cp:lastModifiedBy>
  <cp:revision>2</cp:revision>
  <dcterms:created xsi:type="dcterms:W3CDTF">2026-07-24T12:22:33Z</dcterms:created>
  <dcterms:modified xsi:type="dcterms:W3CDTF">2026-07-28T04:20:24Z</dcterms:modified>
</cp:coreProperties>
</file>